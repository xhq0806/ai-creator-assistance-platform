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508" autoAdjust="0"/>
  </p:normalViewPr>
  <p:slideViewPr>
    <p:cSldViewPr snapToGrid="0" snapToObjects="1">
      <p:cViewPr varScale="1">
        <p:scale>
          <a:sx n="98" d="100"/>
          <a:sy n="98" d="100"/>
        </p:scale>
        <p:origin x="5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96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各位老师好，我本次答辩的项目是 </a:t>
            </a:r>
            <a:r>
              <a:rPr lang="en-US" altLang="zh-CN"/>
              <a:t>AI </a:t>
            </a:r>
            <a:r>
              <a:rPr lang="zh-CN" altLang="en-US"/>
              <a:t>创作者辅助生产与分发平台。这个项目不是一个单点的 </a:t>
            </a:r>
            <a:r>
              <a:rPr lang="en-US" altLang="zh-CN"/>
              <a:t>AI </a:t>
            </a:r>
            <a:r>
              <a:rPr lang="zh-CN" altLang="en-US"/>
              <a:t>生成工具，而是围绕内容生产、审核、发布、消费和反馈建立的一套全链路平台。接下来我会按照产品价值、工程架构、内容治理和交付演进四个部分展开。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项目背景来自两个变化：一是 </a:t>
            </a:r>
            <a:r>
              <a:rPr lang="en-US" altLang="zh-CN"/>
              <a:t>AIGC </a:t>
            </a:r>
            <a:r>
              <a:rPr lang="zh-CN" altLang="en-US"/>
              <a:t>正在显著提升内容生产效率，二是内容平台对安全、质量和推荐分发的要求更高。因此我没有把项目做成一个简单的 </a:t>
            </a:r>
            <a:r>
              <a:rPr lang="en-US" altLang="zh-CN"/>
              <a:t>AI </a:t>
            </a:r>
            <a:r>
              <a:rPr lang="zh-CN" altLang="en-US"/>
              <a:t>调用页面，而是做成从创作到治理再到分发消费的完整平台。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项目面向三类用户。个人创作者关注效率，中小团队关注复用和协作，运营人员关注平台治理。这个角色划分决定了系统不能只做创作页，还要有资源工作台、内容消费页和管理后台。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项目目标可以概括为三句话：创作不中断、发布有门槛、消费可排序。在此基础上，我补充了后台治理能力，让系统具备平台级交付形态，而不是只完成前台演示。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这一页展示整个平台的闭环。用户从 </a:t>
            </a:r>
            <a:r>
              <a:rPr lang="en-US" altLang="zh-CN"/>
              <a:t>Prompt </a:t>
            </a:r>
            <a:r>
              <a:rPr lang="zh-CN" altLang="en-US"/>
              <a:t>和素材进入创作工作台，经过 </a:t>
            </a:r>
            <a:r>
              <a:rPr lang="en-US" altLang="zh-CN"/>
              <a:t>AI </a:t>
            </a:r>
            <a:r>
              <a:rPr lang="zh-CN" altLang="en-US"/>
              <a:t>生成、审核、评分和发布，再进入发现页、详情页和反馈链路。反馈数据会反过来影响热榜排序，运营人员则通过后台治理整个内容生态。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系统总体采用前后端分离的五层架构。展示层负责交互，接入层负责代理、安全和限流，应用层组织 </a:t>
            </a:r>
            <a:r>
              <a:rPr lang="en-US" altLang="zh-CN"/>
              <a:t>REST API</a:t>
            </a:r>
            <a:r>
              <a:rPr lang="zh-CN" altLang="en-US"/>
              <a:t>、认证和校验，服务层承载 </a:t>
            </a:r>
            <a:r>
              <a:rPr lang="en-US" altLang="zh-CN"/>
              <a:t>AI</a:t>
            </a:r>
            <a:r>
              <a:rPr lang="zh-CN" altLang="en-US"/>
              <a:t>、热榜、版本、素材和分发能力，数据层由 </a:t>
            </a:r>
            <a:r>
              <a:rPr lang="en-US" altLang="zh-CN"/>
              <a:t>MySQL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、</a:t>
            </a:r>
            <a:r>
              <a:rPr lang="en-US" altLang="zh-CN"/>
              <a:t>IndexedDB </a:t>
            </a:r>
            <a:r>
              <a:rPr lang="zh-CN" altLang="en-US"/>
              <a:t>和可选 </a:t>
            </a:r>
            <a:r>
              <a:rPr lang="en-US" altLang="zh-CN"/>
              <a:t>OSS </a:t>
            </a:r>
            <a:r>
              <a:rPr lang="zh-CN" altLang="en-US"/>
              <a:t>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前端不是把逻辑都堆在页面里，而是按页面、组件、</a:t>
            </a:r>
            <a:r>
              <a:rPr lang="en-US" altLang="zh-CN"/>
              <a:t>Hooks</a:t>
            </a:r>
            <a:r>
              <a:rPr lang="zh-CN" altLang="en-US"/>
              <a:t>、</a:t>
            </a:r>
            <a:r>
              <a:rPr lang="en-US" altLang="zh-CN"/>
              <a:t>API </a:t>
            </a:r>
            <a:r>
              <a:rPr lang="zh-CN" altLang="en-US"/>
              <a:t>和工具层拆开。这样做的好处是每一层职责清晰，比如 </a:t>
            </a:r>
            <a:r>
              <a:rPr lang="en-US" altLang="zh-CN"/>
              <a:t>AI </a:t>
            </a:r>
            <a:r>
              <a:rPr lang="zh-CN" altLang="en-US"/>
              <a:t>生成和自动保存是副作用，就放在 </a:t>
            </a:r>
            <a:r>
              <a:rPr lang="en-US" altLang="zh-CN"/>
              <a:t>Hooks </a:t>
            </a:r>
            <a:r>
              <a:rPr lang="zh-CN" altLang="en-US"/>
              <a:t>中；接口认证和错误处理则统一收敛到 </a:t>
            </a:r>
            <a:r>
              <a:rPr lang="en-US" altLang="zh-CN"/>
              <a:t>API </a:t>
            </a:r>
            <a:r>
              <a:rPr lang="zh-CN" altLang="en-US"/>
              <a:t>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后端采用 </a:t>
            </a:r>
            <a:r>
              <a:rPr lang="en-US" altLang="zh-CN"/>
              <a:t>Express REST API</a:t>
            </a:r>
            <a:r>
              <a:rPr lang="zh-CN" altLang="en-US"/>
              <a:t>，按中间件、控制器、服务和模型分层。请求先经过安全头、跨域、请求 </a:t>
            </a:r>
            <a:r>
              <a:rPr lang="en-US" altLang="zh-CN"/>
              <a:t>ID</a:t>
            </a:r>
            <a:r>
              <a:rPr lang="zh-CN" altLang="en-US"/>
              <a:t>、日志、限流和 </a:t>
            </a:r>
            <a:r>
              <a:rPr lang="en-US" altLang="zh-CN"/>
              <a:t>JWT </a:t>
            </a:r>
            <a:r>
              <a:rPr lang="zh-CN" altLang="en-US"/>
              <a:t>鉴权，再由控制器读取上下文并调用服务层。服务层封装业务规则，模型层通过 </a:t>
            </a:r>
            <a:r>
              <a:rPr lang="en-US" altLang="zh-CN"/>
              <a:t>Sequelize </a:t>
            </a:r>
            <a:r>
              <a:rPr lang="zh-CN" altLang="en-US"/>
              <a:t>管理 </a:t>
            </a:r>
            <a:r>
              <a:rPr lang="en-US" altLang="zh-CN"/>
              <a:t>MySQL</a:t>
            </a:r>
            <a:r>
              <a:rPr lang="zh-CN" altLang="en-US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数据层不是单一数据库。</a:t>
            </a:r>
            <a:r>
              <a:rPr lang="en-US" altLang="zh-CN"/>
              <a:t>MySQL </a:t>
            </a:r>
            <a:r>
              <a:rPr lang="zh-CN" altLang="en-US"/>
              <a:t>保存用户、文章、版本、模板、素材和审核日志；</a:t>
            </a:r>
            <a:r>
              <a:rPr lang="en-US" altLang="zh-CN"/>
              <a:t>Redis </a:t>
            </a:r>
            <a:r>
              <a:rPr lang="zh-CN" altLang="en-US"/>
              <a:t>支撑热榜排序、文章缓存和 </a:t>
            </a:r>
            <a:r>
              <a:rPr lang="en-US" altLang="zh-CN"/>
              <a:t>AI </a:t>
            </a:r>
            <a:r>
              <a:rPr lang="zh-CN" altLang="en-US"/>
              <a:t>限流；</a:t>
            </a:r>
            <a:r>
              <a:rPr lang="en-US" altLang="zh-CN"/>
              <a:t>IndexedDB </a:t>
            </a:r>
            <a:r>
              <a:rPr lang="zh-CN" altLang="en-US"/>
              <a:t>保障离线草稿；</a:t>
            </a:r>
            <a:r>
              <a:rPr lang="en-US" altLang="zh-CN"/>
              <a:t>AI Provider </a:t>
            </a:r>
            <a:r>
              <a:rPr lang="zh-CN" altLang="en-US"/>
              <a:t>统一在后端接入，避免密钥暴露。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技术选型围绕平台交付而不是炫技。</a:t>
            </a:r>
            <a:r>
              <a:rPr lang="en-US" altLang="zh-CN"/>
              <a:t>React </a:t>
            </a:r>
            <a:r>
              <a:rPr lang="zh-CN" altLang="en-US"/>
              <a:t>和 </a:t>
            </a:r>
            <a:r>
              <a:rPr lang="en-US" altLang="zh-CN"/>
              <a:t>Umi </a:t>
            </a:r>
            <a:r>
              <a:rPr lang="zh-CN" altLang="en-US"/>
              <a:t>提供前端工程化，</a:t>
            </a:r>
            <a:r>
              <a:rPr lang="en-US" altLang="zh-CN"/>
              <a:t>Express </a:t>
            </a:r>
            <a:r>
              <a:rPr lang="zh-CN" altLang="en-US"/>
              <a:t>和 </a:t>
            </a:r>
            <a:r>
              <a:rPr lang="en-US" altLang="zh-CN"/>
              <a:t>Sequelize </a:t>
            </a:r>
            <a:r>
              <a:rPr lang="zh-CN" altLang="en-US"/>
              <a:t>支撑后端领域服务，</a:t>
            </a:r>
            <a:r>
              <a:rPr lang="en-US" altLang="zh-CN"/>
              <a:t>Redis </a:t>
            </a:r>
            <a:r>
              <a:rPr lang="zh-CN" altLang="en-US"/>
              <a:t>解决高频排序和缓存，</a:t>
            </a:r>
            <a:r>
              <a:rPr lang="en-US" altLang="zh-CN"/>
              <a:t>localForage </a:t>
            </a:r>
            <a:r>
              <a:rPr lang="zh-CN" altLang="en-US"/>
              <a:t>解决离线草稿。关键原则是密钥后端隔离、外部依赖可降级、创作链路不断。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 </a:t>
            </a:r>
            <a:r>
              <a:rPr lang="zh-CN" altLang="en-US"/>
              <a:t>能力统一收敛在后端 </a:t>
            </a:r>
            <a:r>
              <a:rPr lang="en-US" altLang="zh-CN"/>
              <a:t>ai.service.js </a:t>
            </a:r>
            <a:r>
              <a:rPr lang="zh-CN" altLang="en-US"/>
              <a:t>中，前端只调用自有 </a:t>
            </a:r>
            <a:r>
              <a:rPr lang="en-US" altLang="zh-CN"/>
              <a:t>API</a:t>
            </a:r>
            <a:r>
              <a:rPr lang="zh-CN" altLang="en-US"/>
              <a:t>。文本生成、审核、质量评分和推荐评分要求模型返回结构化 </a:t>
            </a:r>
            <a:r>
              <a:rPr lang="en-US" altLang="zh-CN"/>
              <a:t>JSON</a:t>
            </a:r>
            <a:r>
              <a:rPr lang="zh-CN" altLang="en-US"/>
              <a:t>；图片生成优先 </a:t>
            </a:r>
            <a:r>
              <a:rPr lang="en-US" altLang="zh-CN"/>
              <a:t>Ark</a:t>
            </a:r>
            <a:r>
              <a:rPr lang="zh-CN" altLang="en-US"/>
              <a:t>，失败后可切换 </a:t>
            </a:r>
            <a:r>
              <a:rPr lang="en-US" altLang="zh-CN"/>
              <a:t>ModelScope</a:t>
            </a:r>
            <a:r>
              <a:rPr lang="zh-CN" altLang="en-US"/>
              <a:t>；密钥缺失时返回本地兜底结果，保证答辩演示不中断。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发布不是简单改一个状态，而是七阶段流水线。先做前置校验和权限验证，再进入 </a:t>
            </a:r>
            <a:r>
              <a:rPr lang="en-US" altLang="zh-CN"/>
              <a:t>AI </a:t>
            </a:r>
            <a:r>
              <a:rPr lang="zh-CN" altLang="en-US"/>
              <a:t>安全审核；审核不通过则驳回或使用合规替代文本；审核通过后进行质量评分和推荐评分，随后写入文章、创建版本快照，并刷新 </a:t>
            </a:r>
            <a:r>
              <a:rPr lang="en-US" altLang="zh-CN"/>
              <a:t>Redis </a:t>
            </a:r>
            <a:r>
              <a:rPr lang="zh-CN" altLang="en-US"/>
              <a:t>热榜。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创作场景最怕内容丢失，因此我设计了在线自动保存和离线优先策略。在线时定时保存到服务端；网络异常时写入 </a:t>
            </a:r>
            <a:r>
              <a:rPr lang="en-US" altLang="zh-CN"/>
              <a:t>IndexedDB </a:t>
            </a:r>
            <a:r>
              <a:rPr lang="zh-CN" altLang="en-US"/>
              <a:t>并标记 </a:t>
            </a:r>
            <a:r>
              <a:rPr lang="en-US" altLang="zh-CN"/>
              <a:t>dirty</a:t>
            </a:r>
            <a:r>
              <a:rPr lang="zh-CN" altLang="en-US"/>
              <a:t>；恢复网络后批量同步，服务端返回 </a:t>
            </a:r>
            <a:r>
              <a:rPr lang="en-US" altLang="zh-CN"/>
              <a:t>localId </a:t>
            </a:r>
            <a:r>
              <a:rPr lang="zh-CN" altLang="en-US"/>
              <a:t>到 </a:t>
            </a:r>
            <a:r>
              <a:rPr lang="en-US" altLang="zh-CN"/>
              <a:t>serverId </a:t>
            </a:r>
            <a:r>
              <a:rPr lang="zh-CN" altLang="en-US"/>
              <a:t>的映射，避免重复创建。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热榜排序引入了内容平台视角，不只按时间或阅读量排序。公式综合质量分、</a:t>
            </a:r>
            <a:r>
              <a:rPr lang="en-US" altLang="zh-CN"/>
              <a:t>AI </a:t>
            </a:r>
            <a:r>
              <a:rPr lang="zh-CN" altLang="en-US"/>
              <a:t>推荐分、阅读量、点赞收藏、负反馈和时间衰减，</a:t>
            </a:r>
            <a:r>
              <a:rPr lang="en-US" altLang="zh-CN"/>
              <a:t>Redis ZSET </a:t>
            </a:r>
            <a:r>
              <a:rPr lang="zh-CN" altLang="en-US"/>
              <a:t>是主路径，</a:t>
            </a:r>
            <a:r>
              <a:rPr lang="en-US" altLang="zh-CN"/>
              <a:t>MySQL </a:t>
            </a:r>
            <a:r>
              <a:rPr lang="zh-CN" altLang="en-US"/>
              <a:t>是降级路径。这样能让优质内容获得基础曝光，同时通过反馈不断调整。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系统数据模型围绕四个领域展开：用户与认证、内容创作、</a:t>
            </a:r>
            <a:r>
              <a:rPr lang="en-US" altLang="zh-CN"/>
              <a:t>AI </a:t>
            </a:r>
            <a:r>
              <a:rPr lang="zh-CN" altLang="en-US"/>
              <a:t>审核、</a:t>
            </a:r>
            <a:r>
              <a:rPr lang="en-US" altLang="zh-CN"/>
              <a:t>Prompt </a:t>
            </a:r>
            <a:r>
              <a:rPr lang="zh-CN" altLang="en-US"/>
              <a:t>协作、素材与历史。文章不是孤立表，而是关联版本、反馈、审核日志和用户；</a:t>
            </a:r>
            <a:r>
              <a:rPr lang="en-US" altLang="zh-CN"/>
              <a:t>Prompt </a:t>
            </a:r>
            <a:r>
              <a:rPr lang="zh-CN" altLang="en-US"/>
              <a:t>和素材也都有独立管理与扩展空间。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贴近字节内容平台场景。系统覆盖涉黄低俗、涉赌、涉毒、政治敏感、暴力恐怖、个人隐私、未成年人风险和虚假夸大营销八类风险。审核不通过时，系统不仅驳回，还能返回合规替代文本，让创作者有明确修改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安全审核解决的是能不能发布，质量评分解决的是值不值得分发。系统从结构完整性、信息增量、表达流畅度、平台适配度和传播性进行评分，并补充 </a:t>
            </a:r>
            <a:r>
              <a:rPr lang="en-US" altLang="zh-CN"/>
              <a:t>AI </a:t>
            </a:r>
            <a:r>
              <a:rPr lang="zh-CN" altLang="en-US"/>
              <a:t>推荐分与主题标签，让分发排序更有依据。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为了让项目更接近真实平台，我实现了管理后台。</a:t>
            </a:r>
            <a:r>
              <a:rPr lang="en-US" altLang="zh-CN"/>
              <a:t>editor </a:t>
            </a:r>
            <a:r>
              <a:rPr lang="zh-CN" altLang="en-US"/>
              <a:t>可以管理内容、</a:t>
            </a:r>
            <a:r>
              <a:rPr lang="en-US" altLang="zh-CN"/>
              <a:t>Prompt</a:t>
            </a:r>
            <a:r>
              <a:rPr lang="zh-CN" altLang="en-US"/>
              <a:t>、素材和审核，</a:t>
            </a:r>
            <a:r>
              <a:rPr lang="en-US" altLang="zh-CN"/>
              <a:t>admin </a:t>
            </a:r>
            <a:r>
              <a:rPr lang="zh-CN" altLang="en-US"/>
              <a:t>可以进一步管理用户和系统配置。这样既覆盖创作者端，也覆盖运营治理端。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分发能力当前是模拟实现，会返回今日头条和抖音侧的平台内容 </a:t>
            </a:r>
            <a:r>
              <a:rPr lang="en-US" altLang="zh-CN"/>
              <a:t>ID</a:t>
            </a:r>
            <a:r>
              <a:rPr lang="zh-CN" altLang="en-US"/>
              <a:t>。这样做的目的是在不依赖真实 </a:t>
            </a:r>
            <a:r>
              <a:rPr lang="en-US" altLang="zh-CN"/>
              <a:t>Open API </a:t>
            </a:r>
            <a:r>
              <a:rPr lang="zh-CN" altLang="en-US"/>
              <a:t>权限的情况下，先把平台内的发布、同步、回执和内容状态闭环打通。后续可以接入真实 </a:t>
            </a:r>
            <a:r>
              <a:rPr lang="en-US" altLang="zh-CN"/>
              <a:t>OAuth</a:t>
            </a:r>
            <a:r>
              <a:rPr lang="zh-CN" altLang="en-US"/>
              <a:t>、发布 </a:t>
            </a:r>
            <a:r>
              <a:rPr lang="en-US" altLang="zh-CN"/>
              <a:t>API </a:t>
            </a:r>
            <a:r>
              <a:rPr lang="zh-CN" altLang="en-US"/>
              <a:t>和回调机制。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工程交付方面，项目提供了 </a:t>
            </a:r>
            <a:r>
              <a:rPr lang="en-US"/>
              <a:t>TypeScript </a:t>
            </a:r>
            <a:r>
              <a:rPr lang="zh-CN" altLang="en-US"/>
              <a:t>检查、前端单元测试、后端 </a:t>
            </a:r>
            <a:r>
              <a:rPr lang="en-US"/>
              <a:t>node --check、</a:t>
            </a:r>
            <a:r>
              <a:rPr lang="zh-CN" altLang="en-US"/>
              <a:t>后端单元测试、冒烟 </a:t>
            </a:r>
            <a:r>
              <a:rPr lang="en-US"/>
              <a:t>E2E </a:t>
            </a:r>
            <a:r>
              <a:rPr lang="zh-CN" altLang="en-US"/>
              <a:t>和 </a:t>
            </a:r>
            <a:r>
              <a:rPr lang="en-US"/>
              <a:t>Playwright E2E。</a:t>
            </a:r>
            <a:r>
              <a:rPr lang="zh-CN" altLang="en-US"/>
              <a:t>后端提供 </a:t>
            </a:r>
            <a:r>
              <a:rPr lang="en-US"/>
              <a:t>Swagger </a:t>
            </a:r>
            <a:r>
              <a:rPr lang="zh-CN" altLang="en-US"/>
              <a:t>文档和健康检查，</a:t>
            </a:r>
            <a:r>
              <a:rPr lang="en-US"/>
              <a:t>Docker Compose </a:t>
            </a:r>
            <a:r>
              <a:rPr lang="zh-CN" altLang="en-US"/>
              <a:t>支持 </a:t>
            </a:r>
            <a:r>
              <a:rPr lang="en-US"/>
              <a:t>MySQL、Redis </a:t>
            </a:r>
            <a:r>
              <a:rPr lang="zh-CN" altLang="en-US"/>
              <a:t>和后端一键部署。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效果评估覆盖审核、质量和性能三类。当前用 </a:t>
            </a:r>
            <a:r>
              <a:rPr lang="en-US" altLang="zh-CN"/>
              <a:t>30 </a:t>
            </a:r>
            <a:r>
              <a:rPr lang="zh-CN" altLang="en-US"/>
              <a:t>条人工构造样本验证审核流程，质量评分用 </a:t>
            </a:r>
            <a:r>
              <a:rPr lang="en-US" altLang="zh-CN"/>
              <a:t>10 </a:t>
            </a:r>
            <a:r>
              <a:rPr lang="zh-CN" altLang="en-US"/>
              <a:t>类内容场景复核，性能上做了 </a:t>
            </a:r>
            <a:r>
              <a:rPr lang="en-US" altLang="zh-CN"/>
              <a:t>Umi </a:t>
            </a:r>
            <a:r>
              <a:rPr lang="zh-CN" altLang="en-US"/>
              <a:t>分包、首屏图片优先级、懒加载、无限滚动和 </a:t>
            </a:r>
            <a:r>
              <a:rPr lang="en-US" altLang="zh-CN"/>
              <a:t>Redis </a:t>
            </a:r>
            <a:r>
              <a:rPr lang="zh-CN" altLang="en-US"/>
              <a:t>热榜缓存。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项目也有明确边界：真实头条和抖音 </a:t>
            </a:r>
            <a:r>
              <a:rPr lang="en-US" altLang="zh-CN"/>
              <a:t>Open API </a:t>
            </a:r>
            <a:r>
              <a:rPr lang="zh-CN" altLang="en-US"/>
              <a:t>尚未接入，多模态内容级审核还需补齐，长耗时 </a:t>
            </a:r>
            <a:r>
              <a:rPr lang="en-US" altLang="zh-CN"/>
              <a:t>AI </a:t>
            </a:r>
            <a:r>
              <a:rPr lang="zh-CN" altLang="en-US"/>
              <a:t>任务还可以进一步异步化。后续重点是线上部署、审核样本扩充、多模态审核、真实分发和线上观测。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最后总结一下，本项目的核心价值有三点：第一，业务闭环完整，覆盖创作、审核、发布、消费和反馈；第二，工程设计清晰，前后端分层、</a:t>
            </a:r>
            <a:r>
              <a:rPr lang="en-US" altLang="zh-CN"/>
              <a:t>AI </a:t>
            </a:r>
            <a:r>
              <a:rPr lang="zh-CN" altLang="en-US"/>
              <a:t>服务封装、缓存、离线和测试都有体现；第三，平台可扩展，后续可以继续接入真实分发、多模态审核和线上治理能力。我的汇报结束，谢谢各位老师。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097280"/>
            <a:ext cx="5212080" cy="5212080"/>
          </a:xfrm>
          <a:prstGeom prst="arc">
            <a:avLst/>
          </a:prstGeom>
          <a:noFill/>
          <a:ln w="16510">
            <a:solidFill>
              <a:srgbClr val="20D6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585216"/>
            <a:ext cx="3931920" cy="3931920"/>
          </a:xfrm>
          <a:prstGeom prst="arc">
            <a:avLst/>
          </a:prstGeom>
          <a:noFill/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20817">
              <a:alpha val="95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76488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0536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4584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28632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2680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96728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0776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4824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157276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与分发平台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694944" y="32461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B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从灵感输入、AIGC 生成、内容审核、质量评分到热榜分发的全链路平台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13232" y="398678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05536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产品闭环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74520" y="398678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405536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工程架构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35808" y="398678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20D6FF">
              <a:alpha val="92000"/>
            </a:srgbClr>
          </a:solidFill>
          <a:ln w="12700">
            <a:solidFill>
              <a:srgbClr val="20D6F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405536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内容治理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97096" y="398678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0248" y="405536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交付演进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83880" y="1097280"/>
            <a:ext cx="2816352" cy="3474720"/>
          </a:xfrm>
          <a:prstGeom prst="roundRect">
            <a:avLst>
              <a:gd name="adj" fmla="val 5195"/>
            </a:avLst>
          </a:prstGeom>
          <a:solidFill>
            <a:srgbClr val="0E2549">
              <a:alpha val="90000"/>
            </a:srgbClr>
          </a:solidFill>
          <a:ln w="12700">
            <a:solidFill>
              <a:srgbClr val="20D6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7072" y="1481328"/>
            <a:ext cx="228600" cy="228600"/>
          </a:xfrm>
          <a:prstGeom prst="ellipse">
            <a:avLst/>
          </a:prstGeom>
          <a:solidFill>
            <a:srgbClr val="20D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1472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0" y="1764792"/>
            <a:ext cx="0" cy="155448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77072" y="2039112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42832" y="20299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0" y="2322576"/>
            <a:ext cx="0" cy="155448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77072" y="2596896"/>
            <a:ext cx="228600" cy="228600"/>
          </a:xfrm>
          <a:prstGeom prst="ellipse">
            <a:avLst/>
          </a:prstGeom>
          <a:solidFill>
            <a:srgbClr val="20D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2832" y="25877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0" y="2880360"/>
            <a:ext cx="0" cy="155448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77072" y="3154680"/>
            <a:ext cx="228600" cy="228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42832" y="3145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0" y="3438144"/>
            <a:ext cx="0" cy="155448"/>
          </a:xfrm>
          <a:prstGeom prst="line">
            <a:avLst/>
          </a:prstGeom>
          <a:noFill/>
          <a:ln w="15240">
            <a:solidFill>
              <a:srgbClr val="6EE7F9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577072" y="3712464"/>
            <a:ext cx="228600" cy="228600"/>
          </a:xfrm>
          <a:prstGeom prst="ellipse">
            <a:avLst/>
          </a:prstGeom>
          <a:solidFill>
            <a:srgbClr val="20D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42832" y="37033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B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20D6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8" grpId="0" animBg="1"/>
      <p:bldP spid="31" grpId="0" animBg="1"/>
      <p:bldP spid="34" grpId="0" animBg="1"/>
      <p:bldP spid="37" grpId="0" animBg="1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产品价值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项目背景：AIGC 内容生产进入平台化阶段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417320"/>
            <a:ext cx="73152" cy="1408176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生产提效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69264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创作者需要从灵感快速生成标题、正文、配图和视频素材，降低从想法到成稿的成本。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6254496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1417320"/>
            <a:ext cx="73152" cy="14081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治理前置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473952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内容平台不能只追求生成效率，还需要在发布前完成安全审核、质量评分和合规改写。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49808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474720"/>
            <a:ext cx="73152" cy="1408176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分发闭环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9264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内容发布后需要进入热榜、阅读、反馈和二次编辑链路，形成持续优化机制。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254496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3474720"/>
            <a:ext cx="73152" cy="1408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工程要求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73952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真实平台需要账号、权限、离线草稿、缓存、测试、部署和降级兜底等完整工程能力。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产品价值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536192"/>
            <a:ext cx="3246120" cy="388620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47672" y="1847088"/>
            <a:ext cx="841248" cy="841248"/>
          </a:xfrm>
          <a:prstGeom prst="ellipse">
            <a:avLst/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02082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" y="2980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3584448"/>
            <a:ext cx="25603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缺灵感、成稿慢、素材分散，需要低门槛生成和草稿保护。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17136" y="1536192"/>
            <a:ext cx="3246120" cy="388620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0" y="1847088"/>
            <a:ext cx="841248" cy="841248"/>
          </a:xfrm>
          <a:prstGeom prst="ellipse">
            <a:avLst/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202082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2980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中小内容团队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584448"/>
            <a:ext cx="25603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需要复用 Prompt、管理素材、统一质量标准和多人协作。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84464" y="1536192"/>
            <a:ext cx="3246120" cy="388620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0160">
            <a:solidFill>
              <a:srgbClr val="DDE7F3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82328" y="1847088"/>
            <a:ext cx="841248" cy="841248"/>
          </a:xfrm>
          <a:prstGeom prst="ellipse">
            <a:avLst/>
          </a:prstGeom>
          <a:solidFill>
            <a:srgbClr val="20D6FF">
              <a:alpha val="92000"/>
            </a:srgbClr>
          </a:solidFill>
          <a:ln w="12700">
            <a:solidFill>
              <a:srgbClr val="20D6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202082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2980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平台运营人员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13648" y="3584448"/>
            <a:ext cx="256032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需要审核、评分、热榜、用户和系统配置等治理能力。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产品价值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项目目标：从灵感到分发的闭环平台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417320"/>
            <a:ext cx="73152" cy="1408176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创作不中断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69264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 30 秒自动保存；断网写入 IndexedDB；恢复网络后批量同步脏草稿。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6254496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1417320"/>
            <a:ext cx="73152" cy="14081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发布有门槛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473952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发布前执行 AI 安全审核、合规替代文本和质量评分，风险内容自动驳回。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49808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474720"/>
            <a:ext cx="73152" cy="1408176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消费可排序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9264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热榜综合质量分、AI 推荐分、阅读、点赞收藏、负反馈和时间衰减。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254496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3474720"/>
            <a:ext cx="73152" cy="1408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运营可治理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73952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后台覆盖用户、文章、Prompt、素材、审核样本和系统配置。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产品价值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平台能力全景图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1700784" cy="768096"/>
          </a:xfrm>
          <a:prstGeom prst="roundRect">
            <a:avLst>
              <a:gd name="adj" fmla="val 14286"/>
            </a:avLst>
          </a:prstGeom>
          <a:solidFill>
            <a:srgbClr val="3977FF">
              <a:alpha val="95000"/>
            </a:srgbClr>
          </a:solidFill>
          <a:ln w="12700">
            <a:solidFill>
              <a:srgbClr val="3977FF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4505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素材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87168" y="2596896"/>
            <a:ext cx="228600" cy="0"/>
          </a:xfrm>
          <a:prstGeom prst="line">
            <a:avLst/>
          </a:prstGeom>
          <a:noFill/>
          <a:ln w="1397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2212848"/>
            <a:ext cx="1700784" cy="768096"/>
          </a:xfrm>
          <a:prstGeom prst="roundRect">
            <a:avLst>
              <a:gd name="adj" fmla="val 14286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8B5CF6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4505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2596896"/>
            <a:ext cx="320040" cy="0"/>
          </a:xfrm>
          <a:prstGeom prst="line">
            <a:avLst/>
          </a:prstGeom>
          <a:noFill/>
          <a:ln w="1397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19472" y="2212848"/>
            <a:ext cx="1700784" cy="768096"/>
          </a:xfrm>
          <a:prstGeom prst="roundRect">
            <a:avLst>
              <a:gd name="adj" fmla="val 14286"/>
            </a:avLst>
          </a:prstGeom>
          <a:solidFill>
            <a:srgbClr val="20D6FF">
              <a:alpha val="95000"/>
            </a:srgbClr>
          </a:solidFill>
          <a:ln w="12700">
            <a:solidFill>
              <a:srgbClr val="20D6FF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4505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56832" y="2596896"/>
            <a:ext cx="310896" cy="0"/>
          </a:xfrm>
          <a:prstGeom prst="line">
            <a:avLst/>
          </a:prstGeom>
          <a:noFill/>
          <a:ln w="1397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2212848"/>
            <a:ext cx="1700784" cy="768096"/>
          </a:xfrm>
          <a:prstGeom prst="roundRect">
            <a:avLst>
              <a:gd name="adj" fmla="val 14286"/>
            </a:avLst>
          </a:prstGeom>
          <a:solidFill>
            <a:srgbClr val="22C55E">
              <a:alpha val="95000"/>
            </a:srgbClr>
          </a:solidFill>
          <a:ln w="12700">
            <a:solidFill>
              <a:srgbClr val="22C55E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24505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2596896"/>
            <a:ext cx="320040" cy="0"/>
          </a:xfrm>
          <a:prstGeom prst="line">
            <a:avLst/>
          </a:prstGeom>
          <a:noFill/>
          <a:ln w="1397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71432" y="2212848"/>
            <a:ext cx="1700784" cy="768096"/>
          </a:xfrm>
          <a:prstGeom prst="roundRect">
            <a:avLst>
              <a:gd name="adj" fmla="val 14286"/>
            </a:avLst>
          </a:prstGeom>
          <a:solidFill>
            <a:srgbClr val="F6B94B">
              <a:alpha val="95000"/>
            </a:srgbClr>
          </a:solidFill>
          <a:ln w="12700">
            <a:solidFill>
              <a:srgbClr val="F6B94B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4505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发布分发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97280" y="4681728"/>
            <a:ext cx="27432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0" y="4681728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846320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内容消费与反馈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316736" y="5041636"/>
            <a:ext cx="2359152" cy="280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发现页、详情页、阅读计数、点赞收藏、负反馈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224528" y="4681728"/>
            <a:ext cx="27432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24528" y="4681728"/>
            <a:ext cx="73152" cy="749808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4846320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热榜重算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4443984" y="5041636"/>
            <a:ext cx="2359152" cy="280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ZSET + MySQL fallback，实时更新曝光排序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333488" y="4681728"/>
            <a:ext cx="27432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33488" y="4681728"/>
            <a:ext cx="73152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4846320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运营治理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7552944" y="5041636"/>
            <a:ext cx="2359152" cy="280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后台管理用户、文章、Prompt、素材、审核和系统配置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7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工程架构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系统总体架构：前后端分离的五层架构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24128" y="1243584"/>
            <a:ext cx="97840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977FF">
                <a:alpha val="5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1380744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3977FF">
              <a:alpha val="96000"/>
            </a:srgbClr>
          </a:solidFill>
          <a:ln w="12700">
            <a:solidFill>
              <a:srgbClr val="3977FF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146304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78608" y="144475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Umi + React + Ant Design，承载创作、消费、后台治理界面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24128" y="2121408"/>
            <a:ext cx="9784080" cy="621792"/>
          </a:xfrm>
          <a:prstGeom prst="roundRect">
            <a:avLst>
              <a:gd name="adj" fmla="val 17647"/>
            </a:avLst>
          </a:prstGeom>
          <a:solidFill>
            <a:srgbClr val="EEF6FF"/>
          </a:solidFill>
          <a:ln w="12700">
            <a:solidFill>
              <a:srgbClr val="8B5CF6">
                <a:alpha val="5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3584" y="225856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96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2340864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78608" y="232257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/ CDN / Helmet / CORS / Rate Limiter，负责请求入口和安全边界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" y="2999232"/>
            <a:ext cx="97840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0D6FF">
                <a:alpha val="5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43584" y="3136392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0D6FF">
              <a:alpha val="96000"/>
            </a:srgbClr>
          </a:solidFill>
          <a:ln w="12700">
            <a:solidFill>
              <a:srgbClr val="20D6FF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16736" y="3218688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320040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REST API、JWT、Joi、Swagger，统一认证、校验和响应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" y="3877056"/>
            <a:ext cx="9784080" cy="621792"/>
          </a:xfrm>
          <a:prstGeom prst="roundRect">
            <a:avLst>
              <a:gd name="adj" fmla="val 17647"/>
            </a:avLst>
          </a:prstGeom>
          <a:solidFill>
            <a:srgbClr val="EEF6FF"/>
          </a:solidFill>
          <a:ln w="12700">
            <a:solidFill>
              <a:srgbClr val="22C55E">
                <a:alpha val="5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4014216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96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6736" y="4096512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78608" y="407822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服务、热榜服务、版本服务、素材服务、分发服务，封装业务能力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24128" y="4754880"/>
            <a:ext cx="97840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6B94B">
                <a:alpha val="5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43584" y="489204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6B94B">
              <a:alpha val="96000"/>
            </a:srgbClr>
          </a:solidFill>
          <a:ln w="12700">
            <a:solidFill>
              <a:srgbClr val="F6B94B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6736" y="4974336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78608" y="495604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MySQL、Redis、IndexedDB、OSS，支撑持久化、缓存、离线和素材存储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工程架构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前端架构：页面、组件、Hooks、API 分层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417320"/>
            <a:ext cx="73152" cy="1408176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69264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创作、发现、详情、搜索、资源、审核、个人中心和后台管理页面由 Umi 路由组织。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6254496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1417320"/>
            <a:ext cx="73152" cy="14081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组件层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473952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RichContentEditor、PromptManager、MaterialManager、AuditPanel、QualityPanel 拆分业务能力。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49808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474720"/>
            <a:ext cx="73152" cy="1408176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Hooks 层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9264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useAI、useAutoSave、useOfflineSync 封装生成、自动保存和离线同步副作用。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254496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3474720"/>
            <a:ext cx="73152" cy="1408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层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73952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requestJson 统一 token 注入、query 序列化、401 refresh 和错误处理。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工程架构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后端架构：中间件、控制器、服务、模型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920240"/>
            <a:ext cx="73152" cy="91440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08483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042416" y="2359152"/>
            <a:ext cx="11247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安全头/限流/JWT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359152" y="2377440"/>
            <a:ext cx="493776" cy="0"/>
          </a:xfrm>
          <a:prstGeom prst="line">
            <a:avLst/>
          </a:prstGeom>
          <a:noFill/>
          <a:ln w="1270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62656" y="192024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62656" y="1920240"/>
            <a:ext cx="73152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208483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182112" y="2359152"/>
            <a:ext cx="11247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参数读取/统一响应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498848" y="2377440"/>
            <a:ext cx="493776" cy="0"/>
          </a:xfrm>
          <a:prstGeom prst="line">
            <a:avLst/>
          </a:prstGeom>
          <a:noFill/>
          <a:ln w="1270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02352" y="192024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02352" y="1920240"/>
            <a:ext cx="73152" cy="91440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08483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321808" y="2359152"/>
            <a:ext cx="11247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AI/热榜/版本/素材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638544" y="2377440"/>
            <a:ext cx="493776" cy="0"/>
          </a:xfrm>
          <a:prstGeom prst="line">
            <a:avLst/>
          </a:prstGeom>
          <a:noFill/>
          <a:ln w="1270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42048" y="192024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42048" y="1920240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208483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461504" y="2359152"/>
            <a:ext cx="11247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Sequelize 实体关联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778240" y="2377440"/>
            <a:ext cx="493776" cy="0"/>
          </a:xfrm>
          <a:prstGeom prst="line">
            <a:avLst/>
          </a:prstGeom>
          <a:noFill/>
          <a:ln w="1270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81744" y="192024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81744" y="1920240"/>
            <a:ext cx="73152" cy="914400"/>
          </a:xfrm>
          <a:prstGeom prst="rect">
            <a:avLst/>
          </a:prstGeom>
          <a:solidFill>
            <a:srgbClr val="F6B94B"/>
          </a:solidFill>
          <a:ln w="12700">
            <a:solidFill>
              <a:srgbClr val="F6B9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2084832"/>
            <a:ext cx="1124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9601200" y="2359152"/>
            <a:ext cx="112471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MySQL/Redis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005840" y="3840480"/>
            <a:ext cx="9875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5840" y="3840480"/>
            <a:ext cx="73152" cy="1024128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296" y="4005072"/>
            <a:ext cx="9491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请求生命周期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1225296" y="4332061"/>
            <a:ext cx="9491472" cy="4228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Request -&gt; Helmet/CORS -&gt; Request ID/Logger -&gt; Rate Limiter -&gt; requireAuth -&gt; validate -&gt; Controller -&gt; Service -&gt; Model -&gt; ok(res, data)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  <p:bldP spid="24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工程架构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数据与外部依赖：MySQL、Redis、IndexedDB、AI Provider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34840" y="2331720"/>
            <a:ext cx="3063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2331720"/>
            <a:ext cx="73152" cy="100584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49631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REST API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4654296" y="2814523"/>
            <a:ext cx="2679192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统一承接前端请求、权限上下文、业务服务与响应格式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777240" y="2331720"/>
            <a:ext cx="29718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331720"/>
            <a:ext cx="73152" cy="10241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496312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96696" y="2823301"/>
            <a:ext cx="2587752" cy="4228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文章 / 版本 / 审核日志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8275320" y="2331720"/>
            <a:ext cx="29718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331720"/>
            <a:ext cx="73152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2496312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94776" y="2823301"/>
            <a:ext cx="2587752" cy="4228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 ZSET / 缓存 / AI 限流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4434840" y="1207008"/>
            <a:ext cx="29718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1207008"/>
            <a:ext cx="73152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1371600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IndexedDB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654296" y="1698589"/>
            <a:ext cx="2587752" cy="4228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离线草稿队列 / dirty 标记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434840" y="4370832"/>
            <a:ext cx="29718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4370832"/>
            <a:ext cx="73152" cy="1024128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4535424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Provider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4654296" y="4862413"/>
            <a:ext cx="2587752" cy="4228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 / ModelScope / 本地兜底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3767328" y="2843784"/>
            <a:ext cx="576072" cy="0"/>
          </a:xfrm>
          <a:prstGeom prst="line">
            <a:avLst/>
          </a:prstGeom>
          <a:noFill/>
          <a:ln w="13335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543800" y="2843784"/>
            <a:ext cx="667512" cy="0"/>
          </a:xfrm>
          <a:prstGeom prst="line">
            <a:avLst/>
          </a:prstGeom>
          <a:noFill/>
          <a:ln w="13335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61888" y="1874520"/>
            <a:ext cx="0" cy="429768"/>
          </a:xfrm>
          <a:prstGeom prst="line">
            <a:avLst/>
          </a:prstGeom>
          <a:noFill/>
          <a:ln w="13335">
            <a:solidFill>
              <a:srgbClr val="8B5CF6"/>
            </a:solidFill>
            <a:prstDash val="solid"/>
            <a:headEnd type="triangl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961888" y="3364992"/>
            <a:ext cx="0" cy="932688"/>
          </a:xfrm>
          <a:prstGeom prst="line">
            <a:avLst/>
          </a:prstGeom>
          <a:noFill/>
          <a:ln w="13335">
            <a:solidFill>
              <a:srgbClr val="20D6F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09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工程架构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技术选型与关键设计原则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" y="137160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554480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62306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59152" y="158191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/ TypeScript / Umi 4 / Ant Design / localForage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233172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2514600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58318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59152" y="25420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/ Express 5 / Sequelize / Joi / JWT / Winston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29184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474720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20D6FF">
              <a:alpha val="92000"/>
            </a:srgbClr>
          </a:solidFill>
          <a:ln w="12700">
            <a:solidFill>
              <a:srgbClr val="20D6F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354330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59152" y="35021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 / Redis ZSET / IndexedDB / OSS 可扩展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" y="425196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D7E2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4434840"/>
            <a:ext cx="987552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50342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59152" y="446227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前后端分离、AI 密钥隔离、降级兜底、离线优先、安全纵深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关键实现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能力封装：文本、图片、审核、评分统一收敛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71600"/>
            <a:ext cx="73152" cy="132588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53619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96696" y="1901952"/>
            <a:ext cx="27249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标题、正文、标签，结构化 JSON 返回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37160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53619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图片生成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700016" y="1901952"/>
            <a:ext cx="27249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Ark Images 优先，ModelScope 兜底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183880" y="13716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371600"/>
            <a:ext cx="73152" cy="132588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53619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03336" y="1901952"/>
            <a:ext cx="27249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类风险识别，返回合规替代文本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333756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33756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50215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96696" y="3867912"/>
            <a:ext cx="27249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结构、深度、流畅度与推荐潜力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80560" y="333756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337560"/>
            <a:ext cx="73152" cy="1325880"/>
          </a:xfrm>
          <a:prstGeom prst="rect">
            <a:avLst/>
          </a:prstGeom>
          <a:solidFill>
            <a:srgbClr val="F6B94B"/>
          </a:solidFill>
          <a:ln w="12700">
            <a:solidFill>
              <a:srgbClr val="F6B9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50215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生成历史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4700016" y="3867912"/>
            <a:ext cx="27249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记录最近 20 条个人生成结果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183880" y="333756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333756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03336" y="3502152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降级兜底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403336" y="3867912"/>
            <a:ext cx="272491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密钥缺失或外部失败时保障演示链路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关键实现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发布流水线：审核、评分、版本、热榜一体化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3977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前置校验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801368" y="2240280"/>
            <a:ext cx="338328" cy="0"/>
          </a:xfrm>
          <a:prstGeom prst="line">
            <a:avLst/>
          </a:prstGeom>
          <a:noFill/>
          <a:ln w="1524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1284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8B5CF6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514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9689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权限验证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447288" y="2240280"/>
            <a:ext cx="338328" cy="0"/>
          </a:xfrm>
          <a:prstGeom prst="line">
            <a:avLst/>
          </a:prstGeom>
          <a:noFill/>
          <a:ln w="1524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5876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20D6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4281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安全审核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093208" y="2240280"/>
            <a:ext cx="338328" cy="0"/>
          </a:xfrm>
          <a:prstGeom prst="line">
            <a:avLst/>
          </a:prstGeom>
          <a:noFill/>
          <a:ln w="1524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0468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22C55E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8873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审核分流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739128" y="2240280"/>
            <a:ext cx="338328" cy="0"/>
          </a:xfrm>
          <a:prstGeom prst="line">
            <a:avLst/>
          </a:prstGeom>
          <a:noFill/>
          <a:ln w="1524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5060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F6B94B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290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3465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385048" y="2240280"/>
            <a:ext cx="338328" cy="0"/>
          </a:xfrm>
          <a:prstGeom prst="line">
            <a:avLst/>
          </a:prstGeom>
          <a:noFill/>
          <a:ln w="1524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9652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EF4444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882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8057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版本快照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10030968" y="2240280"/>
            <a:ext cx="338328" cy="0"/>
          </a:xfrm>
          <a:prstGeom prst="line">
            <a:avLst/>
          </a:prstGeom>
          <a:noFill/>
          <a:ln w="15240">
            <a:solidFill>
              <a:srgbClr val="3977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442448" y="1847088"/>
            <a:ext cx="1207008" cy="786384"/>
          </a:xfrm>
          <a:prstGeom prst="roundRect">
            <a:avLst>
              <a:gd name="adj" fmla="val 13953"/>
            </a:avLst>
          </a:prstGeom>
          <a:solidFill>
            <a:srgbClr val="3977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24744" y="1993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826496" y="20482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热榜分发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960120" y="3913632"/>
            <a:ext cx="4892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0120" y="3913632"/>
            <a:ext cx="7315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9576" y="4078224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成功路径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1179576" y="4343766"/>
            <a:ext cx="4507992" cy="356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published -&gt; 写入 MySQL -&gt; 刷新 Redis 热榜 -&gt; 进入发现页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6355080" y="3913632"/>
            <a:ext cx="48920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3913632"/>
            <a:ext cx="7315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4078224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风险路径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574536" y="4343766"/>
            <a:ext cx="4507992" cy="356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rejected -&gt; 返回 422 -&gt; 展示原因与合规替代文本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7" grpId="0" animBg="1"/>
      <p:bldP spid="21" grpId="0" animBg="1"/>
      <p:bldP spid="25" grpId="0" animBg="1"/>
      <p:bldP spid="29" grpId="0" animBg="1"/>
      <p:bldP spid="33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关键实现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离线草稿同步：创作不中断的可靠性设计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6384" y="1627632"/>
            <a:ext cx="226771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D8E2F0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1828800"/>
            <a:ext cx="438912" cy="438912"/>
          </a:xfrm>
          <a:prstGeom prst="ellipse">
            <a:avLst/>
          </a:prstGeom>
          <a:solidFill>
            <a:srgbClr val="22C55E">
              <a:alpha val="96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568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1536192" y="1938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在线保存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24128" y="2542032"/>
            <a:ext cx="1810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创作页每 30 秒保存草稿，成功后获得或更新 serverId。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170432" y="34015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4701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Creator Page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575304" y="1627632"/>
            <a:ext cx="226771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D8E2F0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828800"/>
            <a:ext cx="438912" cy="438912"/>
          </a:xfrm>
          <a:prstGeom prst="ellipse">
            <a:avLst/>
          </a:prstGeom>
          <a:solidFill>
            <a:srgbClr val="8B5CF6">
              <a:alpha val="96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9568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325112" y="1938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离线落盘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813048" y="2542032"/>
            <a:ext cx="1810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网络异常时写入 IndexedDB，标记 dirty=true，避免内容丢失。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959352" y="34015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34701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IndexedDB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6364224" y="1627632"/>
            <a:ext cx="226771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D8E2F0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1828800"/>
            <a:ext cx="438912" cy="438912"/>
          </a:xfrm>
          <a:prstGeom prst="ellipse">
            <a:avLst/>
          </a:prstGeom>
          <a:solidFill>
            <a:srgbClr val="3977FF">
              <a:alpha val="96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568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114032" y="1938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恢复同步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601968" y="2542032"/>
            <a:ext cx="1810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 online 事件，按 updatedAt 扫描脏草稿并批量提交。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748272" y="34015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34701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Sync API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9153144" y="1627632"/>
            <a:ext cx="226771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D8E2F0"/>
            </a:solidFill>
            <a:prstDash val="solid"/>
          </a:ln>
          <a:effectLst>
            <a:outerShdw blurRad="12700" dist="50800" dir="2700000" algn="bl" rotWithShape="0">
              <a:srgbClr val="AAB7C4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36024" y="1828800"/>
            <a:ext cx="438912" cy="438912"/>
          </a:xfrm>
          <a:prstGeom prst="ellipse">
            <a:avLst/>
          </a:prstGeom>
          <a:solidFill>
            <a:srgbClr val="20D6FF">
              <a:alpha val="96000"/>
            </a:srgbClr>
          </a:solidFill>
          <a:ln w="12700">
            <a:solidFill>
              <a:srgbClr val="20D6FF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19568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9902952" y="1938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回写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9390888" y="2542032"/>
            <a:ext cx="1810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服务端返回 localId -&gt; serverId 映射，本地清除 dirty 标记。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537192" y="340156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20D6FF">
              <a:alpha val="92000"/>
            </a:srgbClr>
          </a:solidFill>
          <a:ln w="12700">
            <a:solidFill>
              <a:srgbClr val="20D6F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10344" y="34701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Mapping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078992" y="4681728"/>
            <a:ext cx="94183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78992" y="4681728"/>
            <a:ext cx="73152" cy="749808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98448" y="4846320"/>
            <a:ext cx="90342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可靠性收益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1298448" y="5041636"/>
            <a:ext cx="9034272" cy="280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网络波动不丢稿；保存失败自动降级本地；恢复网络后批量同步；服务端 ID 回写避免重复创建。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 animBg="1"/>
      <p:bldP spid="18" grpId="0" animBg="1"/>
      <p:bldP spid="24" grpId="0" animBg="1"/>
      <p:bldP spid="25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关键实现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热榜排序：质量分、推荐分与用户反馈融合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1298448"/>
            <a:ext cx="10607040" cy="713232"/>
          </a:xfrm>
          <a:prstGeom prst="roundRect">
            <a:avLst>
              <a:gd name="adj" fmla="val 12821"/>
            </a:avLst>
          </a:prstGeom>
          <a:solidFill>
            <a:srgbClr val="07111F"/>
          </a:solidFill>
          <a:ln w="12700">
            <a:solidFill>
              <a:srgbClr val="20D6FF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36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quality × 0.35 + ai_rank × 0.25 + ln(view+1) × 0.35 + ln(like+favorite×2+1) × 0.30 - negative × 0.35 - age_hours × 0.20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04672" y="2514600"/>
            <a:ext cx="3063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514600"/>
            <a:ext cx="73152" cy="877824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7919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935956"/>
            <a:ext cx="2679192" cy="346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基础曝光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514600"/>
            <a:ext cx="3063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272" y="2514600"/>
            <a:ext cx="73152" cy="8778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67919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935956"/>
            <a:ext cx="2679192" cy="346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平台适配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119872" y="2514600"/>
            <a:ext cx="3063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9872" y="2514600"/>
            <a:ext cx="73152" cy="8778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67919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9328" y="2935956"/>
            <a:ext cx="2679192" cy="346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热度反馈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4672" y="3867912"/>
            <a:ext cx="3063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867912"/>
            <a:ext cx="73152" cy="877824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032504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点赞收藏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289268"/>
            <a:ext cx="2679192" cy="346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正向反馈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62272" y="3867912"/>
            <a:ext cx="3063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62272" y="3867912"/>
            <a:ext cx="73152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032504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负反馈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4289268"/>
            <a:ext cx="2679192" cy="346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降低曝光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19872" y="3867912"/>
            <a:ext cx="3063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19872" y="3867912"/>
            <a:ext cx="73152" cy="877824"/>
          </a:xfrm>
          <a:prstGeom prst="rect">
            <a:avLst/>
          </a:prstGeom>
          <a:solidFill>
            <a:srgbClr val="F6B94B"/>
          </a:solidFill>
          <a:ln w="12700">
            <a:solidFill>
              <a:srgbClr val="F6B9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4032504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时间衰减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9328" y="4289268"/>
            <a:ext cx="2679192" cy="346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新内容机会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关键实现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数据模型：围绕用户、文章、审核、Prompt、素材组织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1353312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53312"/>
            <a:ext cx="73152" cy="141732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517904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用户与认证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96696" y="1883664"/>
            <a:ext cx="25877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407408" y="1353312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1353312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517904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626864" y="1883664"/>
            <a:ext cx="25877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articles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article_versions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user_feedbacks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8028432" y="1353312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28432" y="1353312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517904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审核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247888" y="1883664"/>
            <a:ext cx="25877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audit_logs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audit_manual_annotations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audit_reports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2606040" y="4005072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4005072"/>
            <a:ext cx="73152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4169664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协作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2825496" y="4535424"/>
            <a:ext cx="25877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prompt_templates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prompt_versions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prompt_teams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400800" y="4005072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4005072"/>
            <a:ext cx="73152" cy="141732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4169664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素材与历史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620256" y="4535424"/>
            <a:ext cx="25877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generation_histories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370832" y="3127248"/>
            <a:ext cx="3090672" cy="475488"/>
          </a:xfrm>
          <a:prstGeom prst="roundRect">
            <a:avLst>
              <a:gd name="adj" fmla="val 15385"/>
            </a:avLst>
          </a:prstGeom>
          <a:solidFill>
            <a:srgbClr val="07111F"/>
          </a:solidFill>
          <a:ln w="12700">
            <a:solidFill>
              <a:srgbClr val="20D6F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00984"/>
            <a:ext cx="2697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articles 是内容生命周期中心实体，关联版本、审核、反馈、Prompt 与素材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平台治理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内容安全治理：8 类风险识别与合规替代文本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40180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涉黄低俗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3063240" y="137160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6B94B">
              <a:alpha val="92000"/>
            </a:srgbClr>
          </a:solidFill>
          <a:ln w="12700">
            <a:solidFill>
              <a:srgbClr val="F6B94B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440180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涉赌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1440180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涉毒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543800" y="137160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440180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政治敏感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822960" y="1938528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00710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暴力恐怖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3063240" y="1938528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6B94B">
              <a:alpha val="92000"/>
            </a:srgbClr>
          </a:solidFill>
          <a:ln w="12700">
            <a:solidFill>
              <a:srgbClr val="F6B94B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00710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个人隐私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5303520" y="1938528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00710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未成年人风险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7543800" y="1938528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6952" y="2007108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虚假夸大营销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914400" y="310896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108960"/>
            <a:ext cx="7315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3273552"/>
            <a:ext cx="4233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允许发布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133856" y="3525926"/>
            <a:ext cx="4233672" cy="3419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 风险或合规内容进入质量评分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310896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310896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3273552"/>
            <a:ext cx="4233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驳回发布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6483096" y="3525926"/>
            <a:ext cx="4233672" cy="3419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风险内容返回 422 并保留审核日志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" y="4325112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4325112"/>
            <a:ext cx="73152" cy="86868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3856" y="4489704"/>
            <a:ext cx="4233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合规替代文本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1133856" y="4742078"/>
            <a:ext cx="4233672" cy="3419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模型给出安全表达，降低创作者修改成本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4325112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325112"/>
            <a:ext cx="73152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3096" y="4489704"/>
            <a:ext cx="4233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一键应用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483096" y="4742078"/>
            <a:ext cx="4233672" cy="3419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前端可直接套用替代文本并再次审核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9" grpId="0" animBg="1"/>
      <p:bldP spid="30" grpId="0" animBg="1"/>
      <p:bldP spid="33" grpId="0" animBg="1"/>
      <p:bldP spid="34" grpId="0" animBg="1"/>
      <p:bldP spid="37" grpId="0" animBg="1"/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平台治理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质量评分与推荐潜力：从可发布到值得分发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35331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3977FF">
              <a:alpha val="96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1790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353312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7E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353312"/>
            <a:ext cx="64008" cy="50292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52704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结构完整性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1527048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标题、开头、主体、结尾清晰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14400" y="2139696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96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30428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2139696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7E2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139696"/>
            <a:ext cx="6400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3134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信息增量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7640" y="2313432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事实、案例、方法或独立观点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914400" y="2926080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20D6FF">
              <a:alpha val="96000"/>
            </a:srgbClr>
          </a:solidFill>
          <a:ln w="12700">
            <a:solidFill>
              <a:srgbClr val="20D6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09067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926080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7E2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926080"/>
            <a:ext cx="64008" cy="50292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09981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表达流畅度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77640" y="3099816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语言通顺、段落自然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914400" y="3712464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22C55E">
              <a:alpha val="96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87705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712464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7E2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3712464"/>
            <a:ext cx="64008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8862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平台适配度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3886200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适合图文内容消费场景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14400" y="449884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6B94B">
              <a:alpha val="96000"/>
            </a:srgbClr>
          </a:solidFill>
          <a:ln w="12700">
            <a:solidFill>
              <a:srgbClr val="F6B94B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66344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4498848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7E2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4498848"/>
            <a:ext cx="64008" cy="502920"/>
          </a:xfrm>
          <a:prstGeom prst="rect">
            <a:avLst/>
          </a:prstGeom>
          <a:solidFill>
            <a:srgbClr val="F6B94B"/>
          </a:solidFill>
          <a:ln w="12700">
            <a:solidFill>
              <a:srgbClr val="F6B9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46725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传播性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77640" y="4672584"/>
            <a:ext cx="6126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钩子、冲突点或行动建议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17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平台治理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管理后台：平台运营与内容治理能力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417320"/>
            <a:ext cx="73152" cy="1408176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69264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展示用户、文章、待审、驳回、今日生成等平台核心指标。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6254496" y="14173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1417320"/>
            <a:ext cx="73152" cy="14081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5819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内容治理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473952" y="19476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文章列表、人工审核、强制撤回、强制删除和文章分析能力。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49808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474720"/>
            <a:ext cx="73152" cy="1408176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资源治理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69264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Prompt 管理、素材风险状态覆盖和审核样本维护。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254496" y="3474720"/>
            <a:ext cx="4892040" cy="1408176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3474720"/>
            <a:ext cx="73152" cy="1408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639312"/>
            <a:ext cx="4507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73952" y="4005072"/>
            <a:ext cx="450799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热榜权重、AI Provider、限流配置和审核类别配置由 admin 管理。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18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平台治理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模拟分发：连接头条、抖音场景的分发闭环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3017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73152" cy="1572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31343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平台内发布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133856" y="2679192"/>
            <a:ext cx="263347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文章通过审核与评分后进入 published 状态，并刷新平台热榜。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572768" y="40233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92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4091940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Article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3017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148840"/>
            <a:ext cx="73152" cy="1572768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231343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模拟分发服务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837176" y="2679192"/>
            <a:ext cx="263347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生成头条、抖音侧模拟内容 ID，记录分发结果和回执。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276088" y="40233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92000"/>
            </a:srgbClr>
          </a:solidFill>
          <a:ln w="12700">
            <a:solidFill>
              <a:srgbClr val="3977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4091940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Distribution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321040" y="2148840"/>
            <a:ext cx="30175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148840"/>
            <a:ext cx="73152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31343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外部平台场景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540496" y="2679192"/>
            <a:ext cx="263347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 OAuth、发布 API、回调和失败重试预留接口边界。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979408" y="40233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4091940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Toutiao / Douyin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960120" y="4754880"/>
            <a:ext cx="987552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4754880"/>
            <a:ext cx="73152" cy="786384"/>
          </a:xfrm>
          <a:prstGeom prst="rect">
            <a:avLst/>
          </a:prstGeom>
          <a:solidFill>
            <a:srgbClr val="F6B94B"/>
          </a:solidFill>
          <a:ln w="12700">
            <a:solidFill>
              <a:srgbClr val="F6B9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" y="4919472"/>
            <a:ext cx="9491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179576" y="5132344"/>
            <a:ext cx="9491472" cy="29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当前为模拟分发，不调用真实头条/抖音 Open API；后续可接 OAuth、发布 API、回调和失败重试。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19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21" grpId="0" animBg="1"/>
      <p:bldP spid="22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交付评估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工程交付：测试、E2E、Swagger、Docker Compose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1353312"/>
            <a:ext cx="3090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53312"/>
            <a:ext cx="73152" cy="100584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517904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96696" y="1836115"/>
            <a:ext cx="2706624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run typecheck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480560" y="1353312"/>
            <a:ext cx="3090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353312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517904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前端测试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700016" y="1836115"/>
            <a:ext cx="2706624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run test:frontend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8183880" y="1353312"/>
            <a:ext cx="3090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353312"/>
            <a:ext cx="73152" cy="100584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517904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后端检查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03336" y="1836115"/>
            <a:ext cx="2706624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--dir ai-creator-backend run check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77240" y="2944368"/>
            <a:ext cx="3090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2944368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108960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后端测试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96696" y="3427171"/>
            <a:ext cx="2706624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--dir ai-creator-backend run test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480560" y="2944368"/>
            <a:ext cx="3090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2944368"/>
            <a:ext cx="73152" cy="1005840"/>
          </a:xfrm>
          <a:prstGeom prst="rect">
            <a:avLst/>
          </a:prstGeom>
          <a:solidFill>
            <a:srgbClr val="F6B94B"/>
          </a:solidFill>
          <a:ln w="12700">
            <a:solidFill>
              <a:srgbClr val="F6B9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108960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 E2E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4700016" y="3427171"/>
            <a:ext cx="2706624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run smoke:e2e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183880" y="2944368"/>
            <a:ext cx="30906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83880" y="2944368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03336" y="3108960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403336" y="3427171"/>
            <a:ext cx="2706624" cy="4133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 up -d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20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交付评估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效果评估：审核样本、质量评分、性能优化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审核抽样样本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10128" y="1554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10128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质量评分场景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42432" y="1554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42432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LCP 验收目标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83880" y="155448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D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388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文章缓存 TTL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4069080"/>
            <a:ext cx="2788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069080"/>
            <a:ext cx="73152" cy="932688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71016" y="4233672"/>
            <a:ext cx="2404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审核评估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71016" y="4516770"/>
            <a:ext cx="2404872" cy="375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覆盖正常、高危违规、隐私、虚假营销和边界表达。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389120" y="4069080"/>
            <a:ext cx="2788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4069080"/>
            <a:ext cx="73152" cy="9326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4233672"/>
            <a:ext cx="2404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质量复核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608576" y="4516770"/>
            <a:ext cx="2404872" cy="375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从结构、信息增量、流畅度、平台适配度和传播性判断评分合理性。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7726680" y="4069080"/>
            <a:ext cx="2788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26680" y="4069080"/>
            <a:ext cx="73152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6136" y="4233672"/>
            <a:ext cx="2404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946136" y="4516770"/>
            <a:ext cx="2404872" cy="375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Umi 分包、图片优先级、懒加载、无限滚动和 Redis 热榜缓存。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21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-256032"/>
            <a:ext cx="2194560" cy="2194560"/>
          </a:xfrm>
          <a:prstGeom prst="arc">
            <a:avLst/>
          </a:prstGeom>
          <a:noFill/>
          <a:ln w="12700">
            <a:solidFill>
              <a:srgbClr val="3977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交付评估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当前边界与后续演进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3017520" cy="38862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AE6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783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6152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288036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88000"/>
            </a:srgbClr>
          </a:solidFill>
          <a:ln w="12700">
            <a:solidFill>
              <a:srgbClr val="EF4444">
                <a:alpha val="6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2953512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线上部署地址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25880" y="3319272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0D6FF">
              <a:alpha val="88000"/>
            </a:srgbClr>
          </a:solidFill>
          <a:ln w="12700">
            <a:solidFill>
              <a:srgbClr val="20D6FF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3392424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审核样本扩充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3017520" cy="38862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AE6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783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19472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能力补齐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288036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3977FF">
              <a:alpha val="88000"/>
            </a:srgbClr>
          </a:solidFill>
          <a:ln w="12700">
            <a:solidFill>
              <a:srgbClr val="3977FF">
                <a:alpha val="6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2953512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视频模型验证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3319272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0D6FF">
              <a:alpha val="88000"/>
            </a:srgbClr>
          </a:solidFill>
          <a:ln w="12700">
            <a:solidFill>
              <a:srgbClr val="20D6FF">
                <a:alpha val="64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3392424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多模态审核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0" y="3758184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6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3831336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Open API 分发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75320" y="1463040"/>
            <a:ext cx="3017520" cy="388620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AE6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22792" y="1783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622792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生产增强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732520" y="288036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8000"/>
            </a:srgbClr>
          </a:solidFill>
          <a:ln w="12700">
            <a:solidFill>
              <a:srgbClr val="22C55E">
                <a:alpha val="64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42248" y="2953512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RUM/Sentry 观测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32520" y="3319272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20D6FF">
              <a:alpha val="88000"/>
            </a:srgbClr>
          </a:solidFill>
          <a:ln w="12700">
            <a:solidFill>
              <a:srgbClr val="20D6FF">
                <a:alpha val="64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42248" y="3392424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后台操作审计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32520" y="3758184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6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42248" y="3831336"/>
            <a:ext cx="18836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HttpOnly Cookie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22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3977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16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097280"/>
            <a:ext cx="5212080" cy="5212080"/>
          </a:xfrm>
          <a:prstGeom prst="arc">
            <a:avLst/>
          </a:prstGeom>
          <a:noFill/>
          <a:ln w="16510">
            <a:solidFill>
              <a:srgbClr val="20D6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585216"/>
            <a:ext cx="3931920" cy="3931920"/>
          </a:xfrm>
          <a:prstGeom prst="arc">
            <a:avLst/>
          </a:prstGeom>
          <a:noFill/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20817">
              <a:alpha val="95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76488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0536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4584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28632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2680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96728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0776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4824" y="137160"/>
            <a:ext cx="502920" cy="5212080"/>
          </a:xfrm>
          <a:prstGeom prst="line">
            <a:avLst/>
          </a:prstGeom>
          <a:noFill/>
          <a:ln w="6350">
            <a:solidFill>
              <a:srgbClr val="1E3A5F">
                <a:alpha val="2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2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DD3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530352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总结：完整闭环、工程可信、平台可扩展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12070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 / 工程可信 / 平台可扩展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822960" y="274320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0213D"/>
          </a:solidFill>
          <a:ln w="10160">
            <a:solidFill>
              <a:srgbClr val="2D517B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743200"/>
            <a:ext cx="73152" cy="1234440"/>
          </a:xfrm>
          <a:prstGeom prst="rect">
            <a:avLst/>
          </a:prstGeom>
          <a:solidFill>
            <a:srgbClr val="3977FF"/>
          </a:solidFill>
          <a:ln w="12700">
            <a:solidFill>
              <a:srgbClr val="397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290779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业务闭环完整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042416" y="3273552"/>
            <a:ext cx="267919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创作、审核、发布、消费、反馈与后台治理形成端到端链路。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274320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0213D"/>
          </a:solidFill>
          <a:ln w="10160">
            <a:solidFill>
              <a:srgbClr val="2D517B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2743200"/>
            <a:ext cx="73152" cy="1234440"/>
          </a:xfrm>
          <a:prstGeom prst="rect">
            <a:avLst/>
          </a:prstGeom>
          <a:solidFill>
            <a:srgbClr val="20D6FF"/>
          </a:solidFill>
          <a:ln w="12700">
            <a:solidFill>
              <a:srgbClr val="20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290779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工程设计清晰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745736" y="3273552"/>
            <a:ext cx="267919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前后端分层、AI 服务封装、缓存、离线、权限、测试与部署齐备。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0" y="274320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0213D"/>
          </a:solidFill>
          <a:ln w="10160">
            <a:solidFill>
              <a:srgbClr val="2D517B"/>
            </a:solidFill>
            <a:prstDash val="solid"/>
          </a:ln>
          <a:effectLst>
            <a:outerShdw blurRad="12700" dist="50800" dir="2700000" algn="bl" rotWithShape="0">
              <a:srgbClr val="AAB7C4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274320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49056" y="2907792"/>
            <a:ext cx="2679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平台持续演进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8449056" y="3273552"/>
            <a:ext cx="267919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可继续接入真实分发、多模态审核、异步任务和线上观测。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5257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D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watching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B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创作者辅助生产与分发平台 / 23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784080" y="6565392"/>
            <a:ext cx="1143000" cy="0"/>
          </a:xfrm>
          <a:prstGeom prst="line">
            <a:avLst/>
          </a:prstGeom>
          <a:noFill/>
          <a:ln w="15240">
            <a:solidFill>
              <a:srgbClr val="20D6FF">
                <a:alpha val="8500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2553</Words>
  <Application>Microsoft Office PowerPoint</Application>
  <PresentationFormat>宽屏</PresentationFormat>
  <Paragraphs>386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Microsoft YaHei</vt:lpstr>
      <vt:lpstr>Arial</vt:lpstr>
      <vt:lpstr>Arial Black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AICD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创作者辅助生产与分发平台项目答辩</dc:title>
  <dc:subject>AI Creator Platform Project Defense</dc:subject>
  <dc:creator>AICD Platform</dc:creator>
  <cp:lastModifiedBy>hq x</cp:lastModifiedBy>
  <cp:revision>3</cp:revision>
  <dcterms:created xsi:type="dcterms:W3CDTF">2026-06-09T06:10:21Z</dcterms:created>
  <dcterms:modified xsi:type="dcterms:W3CDTF">2026-06-10T06:48:18Z</dcterms:modified>
</cp:coreProperties>
</file>